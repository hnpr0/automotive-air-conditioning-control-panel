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84" r:id="rId7"/>
    <p:sldId id="285" r:id="rId8"/>
    <p:sldId id="289" r:id="rId9"/>
    <p:sldId id="290" r:id="rId10"/>
    <p:sldId id="286" r:id="rId11"/>
    <p:sldId id="292" r:id="rId12"/>
    <p:sldId id="293" r:id="rId13"/>
    <p:sldId id="291" r:id="rId14"/>
    <p:sldId id="299" r:id="rId15"/>
  </p:sldIdLst>
  <p:sldSz cx="12192000" cy="6858000"/>
  <p:notesSz cx="6858000" cy="9144000"/>
  <p:embeddedFontLst>
    <p:embeddedFont>
      <p:font typeface="Raleway"/>
      <p:regular r:id="rId19"/>
    </p:embeddedFont>
    <p:embeddedFont>
      <p:font typeface="Lato" panose="020F0502020204030203"/>
      <p:regular r:id="rId20"/>
    </p:embeddedFon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Poppins" panose="0000050000000000000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09183d4c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f09183d4c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ae4679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ae4679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ae4679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ae4679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ae4679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ae4679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ae4679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ae4679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ae4679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ae4679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ae4679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ae4679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ae4679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ae4679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ae4679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ae4679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l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101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5" name="Google Shape;15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056A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101112" y="1"/>
            <a:ext cx="5090876" cy="10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056AB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4" name="Google Shape;24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8" name="Google Shape;28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107025" y="5346100"/>
            <a:ext cx="5765925" cy="12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half">
  <p:cSld name="TITLE_AND_BODY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-1484" y="6828125"/>
            <a:ext cx="12208500" cy="61200"/>
          </a:xfrm>
          <a:prstGeom prst="rect">
            <a:avLst/>
          </a:prstGeom>
          <a:solidFill>
            <a:srgbClr val="056AB2"/>
          </a:solidFill>
          <a:ln w="9525" cap="flat" cmpd="sng">
            <a:solidFill>
              <a:srgbClr val="056A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" name="Google Shape;4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rgbClr val="CF5034"/>
          </a:solidFill>
          <a:ln w="9525" cap="flat" cmpd="sng">
            <a:solidFill>
              <a:srgbClr val="CF50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3" name="Google Shape;43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4" name="Google Shape;4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CF50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056A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972600" y="874725"/>
            <a:ext cx="72429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972600" y="1812750"/>
            <a:ext cx="5586600" cy="4544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11733925" y="6477890"/>
            <a:ext cx="438300" cy="439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 lnSpcReduction="10000"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9" name="Google Shape;49;p5"/>
          <p:cNvPicPr preferRelativeResize="0"/>
          <p:nvPr/>
        </p:nvPicPr>
        <p:blipFill rotWithShape="1">
          <a:blip r:embed="rId2"/>
          <a:srcRect l="54910"/>
          <a:stretch>
            <a:fillRect/>
          </a:stretch>
        </p:blipFill>
        <p:spPr>
          <a:xfrm>
            <a:off x="10696693" y="713700"/>
            <a:ext cx="1475420" cy="6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696696" y="-31650"/>
            <a:ext cx="1330954" cy="71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AND_BODY_1_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-1484" y="6828125"/>
            <a:ext cx="12208500" cy="61200"/>
          </a:xfrm>
          <a:prstGeom prst="rect">
            <a:avLst/>
          </a:prstGeom>
          <a:solidFill>
            <a:srgbClr val="056AB2"/>
          </a:solidFill>
          <a:ln w="9525" cap="flat" cmpd="sng">
            <a:solidFill>
              <a:srgbClr val="056A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rgbClr val="CF5034"/>
          </a:solidFill>
          <a:ln w="9525" cap="flat" cmpd="sng">
            <a:solidFill>
              <a:srgbClr val="CF50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4" name="Google Shape;54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5" name="Google Shape;55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CF50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6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056A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972600" y="874725"/>
            <a:ext cx="72429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8" name="Google Shape;58;p6"/>
          <p:cNvSpPr txBox="1">
            <a:spLocks noGrp="1"/>
          </p:cNvSpPr>
          <p:nvPr>
            <p:ph type="sldNum" idx="12"/>
          </p:nvPr>
        </p:nvSpPr>
        <p:spPr>
          <a:xfrm>
            <a:off x="11733925" y="6477890"/>
            <a:ext cx="438300" cy="439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 lnSpcReduction="10000"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2"/>
          <a:srcRect l="54910"/>
          <a:stretch>
            <a:fillRect/>
          </a:stretch>
        </p:blipFill>
        <p:spPr>
          <a:xfrm>
            <a:off x="10696693" y="713700"/>
            <a:ext cx="1475420" cy="6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696696" y="-31650"/>
            <a:ext cx="1330954" cy="71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-1484" y="6828125"/>
            <a:ext cx="12208500" cy="61200"/>
          </a:xfrm>
          <a:prstGeom prst="rect">
            <a:avLst/>
          </a:prstGeom>
          <a:solidFill>
            <a:srgbClr val="056AB2"/>
          </a:solidFill>
          <a:ln w="9525" cap="flat" cmpd="sng">
            <a:solidFill>
              <a:srgbClr val="056A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rgbClr val="CF5034"/>
          </a:solidFill>
          <a:ln w="9525" cap="flat" cmpd="sng">
            <a:solidFill>
              <a:srgbClr val="CF50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4" name="Google Shape;64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5" name="Google Shape;65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CF50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6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056A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972600" y="874725"/>
            <a:ext cx="72429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8" name="Google Shape;68;p7"/>
          <p:cNvSpPr txBox="1">
            <a:spLocks noGrp="1"/>
          </p:cNvSpPr>
          <p:nvPr>
            <p:ph type="body" idx="1"/>
          </p:nvPr>
        </p:nvSpPr>
        <p:spPr>
          <a:xfrm>
            <a:off x="972600" y="1812750"/>
            <a:ext cx="5586600" cy="4544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>
            <a:spLocks noGrp="1"/>
          </p:cNvSpPr>
          <p:nvPr>
            <p:ph type="sldNum" idx="12"/>
          </p:nvPr>
        </p:nvSpPr>
        <p:spPr>
          <a:xfrm>
            <a:off x="11733925" y="6477890"/>
            <a:ext cx="438300" cy="439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 lnSpcReduction="10000"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70" name="Google Shape;70;p7"/>
          <p:cNvPicPr preferRelativeResize="0"/>
          <p:nvPr/>
        </p:nvPicPr>
        <p:blipFill rotWithShape="1">
          <a:blip r:embed="rId2"/>
          <a:srcRect l="54910"/>
          <a:stretch>
            <a:fillRect/>
          </a:stretch>
        </p:blipFill>
        <p:spPr>
          <a:xfrm>
            <a:off x="10696693" y="713700"/>
            <a:ext cx="1475420" cy="6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696696" y="-31650"/>
            <a:ext cx="1330954" cy="713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 txBox="1">
            <a:spLocks noGrp="1"/>
          </p:cNvSpPr>
          <p:nvPr>
            <p:ph type="body" idx="2"/>
          </p:nvPr>
        </p:nvSpPr>
        <p:spPr>
          <a:xfrm>
            <a:off x="6441050" y="1812750"/>
            <a:ext cx="5586600" cy="4544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CF5034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8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107027" y="5620025"/>
            <a:ext cx="2075450" cy="111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2" name="Google Shape;82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83" name="Google Shape;83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84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056A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86" name="Google Shape;86;p9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9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700"/>
              <a:buChar char="●"/>
              <a:defRPr>
                <a:solidFill>
                  <a:srgbClr val="EFEFEF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0"/>
              <a:buChar char="○"/>
              <a:defRPr>
                <a:solidFill>
                  <a:srgbClr val="EFEFEF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0"/>
              <a:buChar char="■"/>
              <a:defRPr>
                <a:solidFill>
                  <a:srgbClr val="EFEFEF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0"/>
              <a:buChar char="●"/>
              <a:defRPr>
                <a:solidFill>
                  <a:srgbClr val="EFEFEF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0"/>
              <a:buChar char="○"/>
              <a:defRPr>
                <a:solidFill>
                  <a:srgbClr val="EFEFEF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0"/>
              <a:buChar char="■"/>
              <a:defRPr>
                <a:solidFill>
                  <a:srgbClr val="EFEFEF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0"/>
              <a:buChar char="●"/>
              <a:defRPr>
                <a:solidFill>
                  <a:srgbClr val="EFEFEF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0"/>
              <a:buChar char="○"/>
              <a:defRPr>
                <a:solidFill>
                  <a:srgbClr val="EFEFEF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0"/>
              <a:buChar char="■"/>
              <a:defRPr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88" name="Google Shape;88;p9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528387" y="171401"/>
            <a:ext cx="5090876" cy="10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4" name="Google Shape;9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5" name="Google Shape;95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6" name="Google Shape;9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 panose="020F0502020204030203"/>
              <a:buChar char="●"/>
              <a:defRPr sz="17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 panose="020F0502020204030203"/>
              <a:buChar char="○"/>
              <a:defRPr sz="15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 panose="020F0502020204030203"/>
              <a:buChar char="■"/>
              <a:defRPr sz="15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 panose="020F0502020204030203"/>
              <a:buChar char="●"/>
              <a:defRPr sz="15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 panose="020F0502020204030203"/>
              <a:buChar char="○"/>
              <a:defRPr sz="15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 panose="020F0502020204030203"/>
              <a:buChar char="■"/>
              <a:defRPr sz="15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 panose="020F0502020204030203"/>
              <a:buChar char="●"/>
              <a:defRPr sz="15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 panose="020F0502020204030203"/>
              <a:buChar char="○"/>
              <a:defRPr sz="15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 panose="020F0502020204030203"/>
              <a:buChar char="■"/>
              <a:defRPr sz="15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/>
        </p:nvSpPr>
        <p:spPr>
          <a:xfrm>
            <a:off x="-165100" y="4520986"/>
            <a:ext cx="12191999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+mn-ea"/>
              </a:rPr>
              <a:t>Team Members:</a:t>
            </a:r>
            <a:endParaRPr lang="en-US" sz="2800" b="1" dirty="0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+mn-ea"/>
              </a:rPr>
              <a:t>Arwa Hesham </a:t>
            </a:r>
            <a:endParaRPr lang="en-US" sz="2400" dirty="0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+mn-ea"/>
              </a:rPr>
              <a:t>Hamza Abbas </a:t>
            </a:r>
            <a:endParaRPr lang="en-US" sz="2400" dirty="0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+mn-ea"/>
              </a:rPr>
              <a:t>Ahmed Emad</a:t>
            </a:r>
            <a:endParaRPr lang="en-US" sz="2400" dirty="0">
              <a:solidFill>
                <a:schemeClr val="accent2"/>
              </a:solidFill>
              <a:latin typeface="Poppins" panose="00000500000000000000"/>
              <a:ea typeface="Poppins" panose="00000500000000000000"/>
              <a:cs typeface="Poppins" panose="00000500000000000000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309874" y="2653005"/>
            <a:ext cx="11882126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EA512E"/>
                </a:solidFill>
                <a:latin typeface="Poppins" panose="00000500000000000000"/>
                <a:ea typeface="Poppins" panose="00000500000000000000"/>
                <a:cs typeface="Poppins" panose="00000500000000000000"/>
              </a:rPr>
              <a:t>Embedded AC Control System</a:t>
            </a:r>
            <a:br>
              <a:rPr lang="en-US" sz="4000" dirty="0">
                <a:solidFill>
                  <a:srgbClr val="EA512E"/>
                </a:solidFill>
                <a:latin typeface="Poppins" panose="00000500000000000000"/>
                <a:ea typeface="Poppins" panose="00000500000000000000"/>
                <a:cs typeface="Poppins" panose="00000500000000000000"/>
              </a:rPr>
            </a:br>
            <a:r>
              <a:rPr lang="en-US" sz="4000" dirty="0">
                <a:solidFill>
                  <a:srgbClr val="EA512E"/>
                </a:solidFill>
                <a:latin typeface="Poppins" panose="00000500000000000000"/>
                <a:ea typeface="Poppins" panose="00000500000000000000"/>
                <a:cs typeface="Poppins" panose="00000500000000000000"/>
              </a:rPr>
              <a:t>KH5023FTE</a:t>
            </a:r>
            <a:endParaRPr lang="en-US" sz="4000" dirty="0">
              <a:solidFill>
                <a:srgbClr val="EA512E"/>
              </a:solidFill>
              <a:latin typeface="Poppins" panose="00000500000000000000"/>
              <a:ea typeface="Poppins" panose="00000500000000000000"/>
              <a:cs typeface="Poppins" panose="00000500000000000000"/>
            </a:endParaRPr>
          </a:p>
        </p:txBody>
      </p:sp>
      <p:pic>
        <p:nvPicPr>
          <p:cNvPr id="108" name="Google Shape;108;p1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6046" y="171405"/>
            <a:ext cx="6319825" cy="12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 lang="en-US"/>
          </a:p>
        </p:txBody>
      </p:sp>
      <p:sp>
        <p:nvSpPr>
          <p:cNvPr id="116" name="Google Shape;116;p13"/>
          <p:cNvSpPr txBox="1">
            <a:spLocks noGrp="1"/>
          </p:cNvSpPr>
          <p:nvPr>
            <p:ph type="body" idx="2"/>
          </p:nvPr>
        </p:nvSpPr>
        <p:spPr>
          <a:xfrm>
            <a:off x="6534150" y="1803400"/>
            <a:ext cx="4864100" cy="403415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Project Description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Key Components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Functionalities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Design Architecture of the Application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Software Implementation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Video Demo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SW Test Cases used vs Use cases covered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Development of Best Cost-Effective BOM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  <a:sym typeface="+mn-ea"/>
              </a:rPr>
              <a:t>Conclusion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-US" sz="1600" dirty="0">
                <a:solidFill>
                  <a:schemeClr val="accent1"/>
                </a:solidFill>
              </a:rPr>
              <a:t>Q&amp;A</a:t>
            </a:r>
            <a:endParaRPr lang="en-US" sz="1600" dirty="0">
              <a:solidFill>
                <a:schemeClr val="accent1"/>
              </a:solidFill>
            </a:endParaRPr>
          </a:p>
          <a:p>
            <a:pPr marL="6096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endParaRPr sz="1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972600" y="874725"/>
            <a:ext cx="72429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ym typeface="+mn-ea"/>
              </a:rPr>
              <a:t>Project Description</a:t>
            </a: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972820" y="2416175"/>
            <a:ext cx="10654030" cy="4013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000" b="1">
                <a:sym typeface="+mn-ea"/>
              </a:rPr>
              <a:t>Project Purpose:</a:t>
            </a:r>
            <a:endParaRPr sz="2000" b="1"/>
          </a:p>
          <a:p>
            <a:endParaRPr sz="2000"/>
          </a:p>
          <a:p>
            <a:pPr marL="342900" lvl="8" indent="-342900" algn="l"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Automates room temperature regulation using an embedded system.</a:t>
            </a:r>
            <a:endParaRPr sz="1800">
              <a:sym typeface="+mn-ea"/>
            </a:endParaRPr>
          </a:p>
          <a:p>
            <a:pPr marL="342900" lvl="8" indent="-342900" algn="l"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Provides precise user control over ambient temperature.</a:t>
            </a:r>
            <a:endParaRPr sz="1800">
              <a:sym typeface="+mn-ea"/>
            </a:endParaRPr>
          </a:p>
          <a:p>
            <a:pPr marL="342900" lvl="8" indent="-342900" algn="l">
              <a:buSzTx/>
              <a:buFont typeface="Arial" panose="020B0604020202020204" pitchFamily="34" charset="0"/>
              <a:buChar char="•"/>
            </a:pPr>
            <a:endParaRPr lang="en-US"/>
          </a:p>
          <a:p>
            <a:r>
              <a:rPr sz="2000" b="1">
                <a:sym typeface="+mn-ea"/>
              </a:rPr>
              <a:t>Objectives:</a:t>
            </a:r>
            <a:endParaRPr sz="2000" b="1"/>
          </a:p>
          <a:p>
            <a:endParaRPr sz="20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Real-time monitoring of ambient temperature using LM35 sensor.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User interaction via keypad (Mode 1) and increment/decrement push buttons (Mode 2).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Automatic fan speed and direction control to reach the desired temperature.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Visual feedback through a LCD and LED indicators.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Data storage using EEPROM and time tracking with RTC.</a:t>
            </a:r>
            <a:endParaRPr sz="1800">
              <a:sym typeface="+mn-ea"/>
            </a:endParaRPr>
          </a:p>
          <a:p>
            <a:pPr>
              <a:lnSpc>
                <a:spcPct val="80000"/>
              </a:lnSpc>
              <a:buFont typeface="Arial" panose="020B0604020202020204"/>
              <a:buChar char="•"/>
            </a:pPr>
            <a:endParaRPr lang="en-US"/>
          </a:p>
          <a:p>
            <a:pPr indent="0">
              <a:lnSpc>
                <a:spcPct val="80000"/>
              </a:lnSpc>
              <a:buFont typeface="Arial" panose="020B0604020202020204"/>
              <a:buNone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972600" y="874725"/>
            <a:ext cx="72429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/>
              <a:t>Key Components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972820" y="2197100"/>
            <a:ext cx="8163560" cy="4224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Microcontroller: ATmega328P, 16 MHz system clock.</a:t>
            </a:r>
            <a:endParaRPr sz="1800"/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Temperature Sensor: LM35 analog sensor.</a:t>
            </a:r>
            <a:endParaRPr sz="1800"/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Fan Actuator: DC motor controlled via PWM for speed, GPIO for direction.</a:t>
            </a:r>
            <a:endParaRPr sz="1800"/>
          </a:p>
          <a:p>
            <a:pPr marL="342900" indent="-342900"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User Interface: Keypad and push buttons for mode selection and temperature input.</a:t>
            </a:r>
            <a:endParaRPr sz="1800"/>
          </a:p>
          <a:p>
            <a:pPr marL="342900" indent="-342900"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Display &amp; Indicators: 16×2 LCD and LED for operational feedback.</a:t>
            </a:r>
            <a:endParaRPr sz="1800"/>
          </a:p>
          <a:p>
            <a:pPr marL="342900" indent="-342900"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Data Storage: EEPROM for settings, RTC module for time-based functionality.</a:t>
            </a:r>
            <a:endParaRPr lang="en-US" sz="18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972600" y="874725"/>
            <a:ext cx="72429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Functionalities</a:t>
            </a:r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1186815" y="2049780"/>
            <a:ext cx="8505190" cy="4254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Continuously acquires ambient temperature and converts analog readings to Celsius.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Compares actual temperature with desired temperature to regulate fan speed and direction.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Handles user inputs with software debouncing and validation.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Updates LCD efficiently to display current and desired temperature, system mode and time 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Turns LED ON/OFF based on fan operation status.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Stores and retrieves user-defined settings from EEPROM.</a:t>
            </a:r>
            <a:endParaRPr sz="1800"/>
          </a:p>
          <a:p>
            <a:pPr marL="0" algn="l">
              <a:lnSpc>
                <a:spcPct val="60000"/>
              </a:lnSpc>
              <a:buClrTx/>
              <a:buSzTx/>
              <a:buFont typeface="Arial" panose="020B0604020202020204"/>
            </a:pP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972820" y="875030"/>
            <a:ext cx="9904730" cy="71374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Design Architecture of the Application</a:t>
            </a:r>
            <a:endParaRPr lang="en-US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368550"/>
            <a:ext cx="10515600" cy="3417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972600" y="874725"/>
            <a:ext cx="72429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Software Implementation</a:t>
            </a:r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556895" y="1826260"/>
            <a:ext cx="9877425" cy="4815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l">
              <a:buSzTx/>
              <a:buNone/>
            </a:pPr>
            <a:r>
              <a:rPr sz="2000" b="1">
                <a:sym typeface="+mn-ea"/>
              </a:rPr>
              <a:t>Core Algorithms:</a:t>
            </a:r>
            <a:endParaRPr sz="2000" b="1">
              <a:sym typeface="+mn-ea"/>
            </a:endParaRPr>
          </a:p>
          <a:p>
            <a:pPr marL="0" algn="l">
              <a:lnSpc>
                <a:spcPct val="80000"/>
              </a:lnSpc>
              <a:buSzTx/>
              <a:buNone/>
            </a:pPr>
            <a:endParaRPr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Read LM35 sensor data via ADC.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Compare real-time temperature with desired temperature.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Adjust DC motor (fan) speed and direction using PWM.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Mode switching between keypad input (Mode 1) and increment/decrement buttons (Mode 2).</a:t>
            </a:r>
            <a:endParaRPr lang="en-US" altLang="en-US" sz="1600"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/>
          </a:p>
          <a:p>
            <a:pPr marL="0" algn="l">
              <a:buSzTx/>
              <a:buNone/>
            </a:pPr>
            <a:r>
              <a:rPr sz="2000" b="1">
                <a:sym typeface="+mn-ea"/>
              </a:rPr>
              <a:t>User Input Handling:</a:t>
            </a:r>
            <a:endParaRPr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Keypad scanning, push button debouncing, and validation.</a:t>
            </a:r>
            <a:endParaRPr lang="en-US" altLang="en-US" sz="16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/>
          </a:p>
          <a:p>
            <a:pPr marL="0" algn="l">
              <a:buSzTx/>
              <a:buNone/>
            </a:pPr>
            <a:r>
              <a:rPr sz="2000" b="1">
                <a:sym typeface="+mn-ea"/>
              </a:rPr>
              <a:t>Display Management:</a:t>
            </a:r>
            <a:endParaRPr sz="2000" b="1"/>
          </a:p>
          <a:p>
            <a:pPr marL="285750" indent="-285750" algn="l"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Display all parameters on the LCD (current temprature,  required temprature, time, motor(fan) status.</a:t>
            </a:r>
            <a:endParaRPr lang="en-US" altLang="en-US" sz="16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0" algn="l">
              <a:buSzTx/>
              <a:buNone/>
            </a:pPr>
            <a:r>
              <a:rPr sz="2000" b="1">
                <a:sym typeface="+mn-ea"/>
              </a:rPr>
              <a:t>Alert System:</a:t>
            </a:r>
            <a:endParaRPr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LED indicates fan operational status</a:t>
            </a:r>
            <a:endParaRPr lang="en-US" altLang="en-US" sz="1600"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ym typeface="+mn-ea"/>
              </a:rPr>
              <a:t>.</a:t>
            </a:r>
            <a:endParaRPr lang="en-US" altLang="en-US"/>
          </a:p>
          <a:p>
            <a:pPr marL="0" algn="l">
              <a:buSzTx/>
              <a:buNone/>
            </a:pPr>
            <a:r>
              <a:rPr sz="2000" b="1">
                <a:sym typeface="+mn-ea"/>
              </a:rPr>
              <a:t>Data Logging:</a:t>
            </a:r>
            <a:endParaRPr sz="2000" b="1"/>
          </a:p>
          <a:p>
            <a:pPr marL="285750" indent="-285750" algn="l"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Store user settings in EEPROM; use RTC for time-based features.</a:t>
            </a:r>
            <a:endParaRPr lang="en-US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ym typeface="+mn-ea"/>
              </a:rPr>
              <a:t>Video Demo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972820" y="875030"/>
            <a:ext cx="9356090" cy="71374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SW Test Cases used vs Use cases covered</a:t>
            </a:r>
            <a:endParaRPr lang="en-US" dirty="0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777240" y="2095500"/>
          <a:ext cx="10875645" cy="4411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2375"/>
                <a:gridCol w="5327650"/>
                <a:gridCol w="1785620"/>
              </a:tblGrid>
              <a:tr h="532765">
                <a:tc>
                  <a:txBody>
                    <a:bodyPr/>
                    <a:p>
                      <a:pPr algn="ctr"/>
                      <a:r>
                        <a:rPr sz="1400"/>
                        <a:t>Use Case</a:t>
                      </a:r>
                      <a:endParaRPr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/>
                        <a:t>Test Case Description</a:t>
                      </a:r>
                      <a:endParaRPr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/>
                        <a:t>Status</a:t>
                      </a:r>
                      <a:endParaRPr sz="1400"/>
                    </a:p>
                  </a:txBody>
                  <a:tcPr marL="0" marR="0" marT="0" marB="0" anchor="ctr" anchorCtr="0"/>
                </a:tc>
              </a:tr>
              <a:tr h="596900"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Set Desired Temperature via Keypad (Mode 1)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Enter a temperature and verify that fan speed adjusts accordingly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chemeClr val="bg2"/>
                          </a:solidFill>
                        </a:rPr>
                        <a:t>✅ Pass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894715"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Increment/Decrement Temperature (Mode 2)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Press buttons to adjust temperature; verify fan reacts properly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chemeClr val="bg2"/>
                          </a:solidFill>
                        </a:rPr>
                        <a:t>✅ Pass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596900"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Temperature Monitoring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LM35 readings match actual ambient temperature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chemeClr val="bg2"/>
                          </a:solidFill>
                        </a:rPr>
                        <a:t>✅ Pass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596900"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Fan Speed &amp; Direction Control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PWM duty cycle changes fan speed; direction pin controls airflow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chemeClr val="bg2"/>
                          </a:solidFill>
                        </a:rPr>
                        <a:t>✅ Pass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596265"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LED Indicator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LED turns ON/OFF corresponding to fan operation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chemeClr val="bg2"/>
                          </a:solidFill>
                        </a:rPr>
                        <a:t>✅ Pass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596900"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LCD Display Update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sz="1400">
                          <a:solidFill>
                            <a:schemeClr val="bg2"/>
                          </a:solidFill>
                        </a:rPr>
                        <a:t>  </a:t>
                      </a:r>
                      <a:r>
                        <a:rPr sz="1400">
                          <a:solidFill>
                            <a:schemeClr val="bg2"/>
                          </a:solidFill>
                        </a:rPr>
                        <a:t>LCD shows current temp, desired temp, and mode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chemeClr val="bg2"/>
                          </a:solidFill>
                        </a:rPr>
                        <a:t>✅ Pass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972820" y="875030"/>
            <a:ext cx="8591550" cy="71374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Development of Best Cost-Effective BOM</a:t>
            </a:r>
            <a:endParaRPr lang="en-US" dirty="0"/>
          </a:p>
        </p:txBody>
      </p:sp>
      <p:graphicFrame>
        <p:nvGraphicFramePr>
          <p:cNvPr id="12" name="Table 11"/>
          <p:cNvGraphicFramePr/>
          <p:nvPr>
            <p:custDataLst>
              <p:tags r:id="rId1"/>
            </p:custDataLst>
          </p:nvPr>
        </p:nvGraphicFramePr>
        <p:xfrm>
          <a:off x="6479540" y="1978025"/>
          <a:ext cx="5350510" cy="444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255"/>
                <a:gridCol w="2675255"/>
              </a:tblGrid>
              <a:tr h="5829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Part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Total price</a:t>
                      </a:r>
                      <a:endParaRPr lang="en-US"/>
                    </a:p>
                  </a:txBody>
                  <a:tcPr/>
                </a:tc>
              </a:tr>
              <a:tr h="42926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Jumper Wires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181.50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28625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Temperature Sensor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221.50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2926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MotorDriver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226.50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28625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RTC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291.50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28625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EEPROM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311.50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2926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Keypad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323.50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28625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I2C LCD 2x16 Display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468.50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29895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L9110s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503.5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28625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AA Battery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523.5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>
            <p:custDataLst>
              <p:tags r:id="rId2"/>
            </p:custDataLst>
          </p:nvPr>
        </p:nvGraphicFramePr>
        <p:xfrm>
          <a:off x="454025" y="1978025"/>
          <a:ext cx="5300980" cy="4491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490"/>
                <a:gridCol w="2650490"/>
              </a:tblGrid>
              <a:tr h="4908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Part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Total price</a:t>
                      </a:r>
                      <a:endParaRPr lang="en-US"/>
                    </a:p>
                  </a:txBody>
                  <a:tcPr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Microcontroller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120.00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Crystal Oscillator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125.00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Voltage Regulator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135.50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Capacitor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125.50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LED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131.00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Resistors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132.50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Motor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137.50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Push Button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141.50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  <a:tr h="444500"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Mini Breadboard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r>
                        <a:rPr sz="1800">
                          <a:solidFill>
                            <a:schemeClr val="bg2"/>
                          </a:solidFill>
                        </a:rPr>
                        <a:t>176.50</a:t>
                      </a:r>
                      <a:endParaRPr sz="1800">
                        <a:solidFill>
                          <a:schemeClr val="bg2"/>
                        </a:solidFill>
                      </a:endParaRPr>
                    </a:p>
                  </a:txBody>
                  <a:tcPr marL="51117" marR="51117" marT="51117" marB="511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972600" y="874725"/>
            <a:ext cx="72429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Conclusion</a:t>
            </a:r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591820" y="2023745"/>
            <a:ext cx="10905490" cy="4446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en-US" sz="13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The system successfully provides automated temperature control using an embedded microcontroller-based design.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Real-time temperature monitoring and accurate fan regulation were achieved through the LM35 sensor and PWM motor control.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The user interface offers reliable interaction via keypad entry and push-button adjustment modes.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LCD and LED indicators ensured clear feedback and system transparency during operation.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The modular hardware–software architecture improved maintainability, scalability, and overall system robustness.</a:t>
            </a: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endParaRPr sz="1800"/>
          </a:p>
          <a:p>
            <a:pPr marL="342900" indent="-342900" algn="l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sz="1800">
                <a:sym typeface="+mn-ea"/>
              </a:rPr>
              <a:t>Testing confirmed stable performance, accurate sensing, and effective response to temperature changes.</a:t>
            </a:r>
            <a:endParaRPr sz="180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8" name="Google Shape;238;p3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7801" y="5567013"/>
            <a:ext cx="4513494" cy="8971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37;p31"/>
          <p:cNvSpPr txBox="1"/>
          <p:nvPr/>
        </p:nvSpPr>
        <p:spPr>
          <a:xfrm>
            <a:off x="3326130" y="3329940"/>
            <a:ext cx="5096510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35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Any Questions?</a:t>
            </a:r>
            <a:endParaRPr dirty="0"/>
          </a:p>
        </p:txBody>
      </p:sp>
      <p:sp>
        <p:nvSpPr>
          <p:cNvPr id="237" name="Google Shape;237;p31"/>
          <p:cNvSpPr txBox="1"/>
          <p:nvPr/>
        </p:nvSpPr>
        <p:spPr>
          <a:xfrm>
            <a:off x="3953381" y="2093290"/>
            <a:ext cx="39876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35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6*347"/>
  <p:tag name="TABLE_ENDDRAG_RECT" val="61*165*856*347"/>
</p:tagLst>
</file>

<file path=ppt/tags/tag2.xml><?xml version="1.0" encoding="utf-8"?>
<p:tagLst xmlns:p="http://schemas.openxmlformats.org/presentationml/2006/main">
  <p:tag name="TABLE_ENDDRAG_ORIGIN_RECT" val="421*349"/>
  <p:tag name="TABLE_ENDDRAG_RECT" val="23*133*421*349"/>
</p:tagLst>
</file>

<file path=ppt/tags/tag3.xml><?xml version="1.0" encoding="utf-8"?>
<p:tagLst xmlns:p="http://schemas.openxmlformats.org/presentationml/2006/main">
  <p:tag name="TABLE_ENDDRAG_ORIGIN_RECT" val="417*350"/>
  <p:tag name="TABLE_ENDDRAG_RECT" val="398*120*417*350"/>
</p:tagLst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3905</Words>
  <Application>WPS Presentation</Application>
  <PresentationFormat>Widescreen</PresentationFormat>
  <Paragraphs>236</Paragraphs>
  <Slides>12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2" baseType="lpstr">
      <vt:lpstr>Arial</vt:lpstr>
      <vt:lpstr>SimSun</vt:lpstr>
      <vt:lpstr>Wingdings</vt:lpstr>
      <vt:lpstr>Arial</vt:lpstr>
      <vt:lpstr>Raleway</vt:lpstr>
      <vt:lpstr>Lato</vt:lpstr>
      <vt:lpstr>Calibri</vt:lpstr>
      <vt:lpstr>Poppins</vt:lpstr>
      <vt:lpstr>Cambria Math</vt:lpstr>
      <vt:lpstr>Segoe WPC</vt:lpstr>
      <vt:lpstr>Heebo</vt:lpstr>
      <vt:lpstr>Nunito</vt:lpstr>
      <vt:lpstr>Times New Roman</vt:lpstr>
      <vt:lpstr>Calibri</vt:lpstr>
      <vt:lpstr>Microsoft YaHei</vt:lpstr>
      <vt:lpstr>Arial Unicode MS</vt:lpstr>
      <vt:lpstr>AMGDT</vt:lpstr>
      <vt:lpstr>Calibri Light</vt:lpstr>
      <vt:lpstr>BatangChe</vt:lpstr>
      <vt:lpstr>Streamline</vt:lpstr>
      <vt:lpstr>PowerPoint 演示文稿</vt:lpstr>
      <vt:lpstr>AGENDA</vt:lpstr>
      <vt:lpstr>Question 1</vt:lpstr>
      <vt:lpstr>Question 2</vt:lpstr>
      <vt:lpstr>Question 3</vt:lpstr>
      <vt:lpstr>Sinc Signal</vt:lpstr>
      <vt:lpstr>Question 4</vt:lpstr>
      <vt:lpstr>Vector implementation</vt:lpstr>
      <vt:lpstr>Question 5</vt:lpstr>
      <vt:lpstr>Dirac Signal</vt:lpstr>
      <vt:lpstr>Question 6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dareen</cp:lastModifiedBy>
  <cp:revision>5</cp:revision>
  <dcterms:created xsi:type="dcterms:W3CDTF">2025-12-09T02:15:26Z</dcterms:created>
  <dcterms:modified xsi:type="dcterms:W3CDTF">2025-12-09T02:41:08Z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7535C440D2AB4E60B8A561E08645CEA5_13</vt:lpwstr>
  </property>
  <property fmtid="{D5CDD505-2E9C-101B-9397-08002B2CF9AE}" pid="3" name="KSOProductBuildVer">
    <vt:lpwstr>1033-12.2.0.23155</vt:lpwstr>
  </property>
</Properties>
</file>